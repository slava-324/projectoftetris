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77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alibri Light" panose="020F0302020204030204" pitchFamily="34" charset="0"/>
      <p:regular r:id="rId13"/>
      <p:italic r:id="rId14"/>
    </p:embeddedFont>
    <p:embeddedFont>
      <p:font typeface="Merriweather Bold" panose="020B0604020202020204" charset="-52"/>
      <p:regular r:id="rId15"/>
    </p:embeddedFont>
    <p:embeddedFont>
      <p:font typeface="Open Sans" panose="020B0606030504020204" pitchFamily="34" charset="0"/>
      <p:regular r:id="rId16"/>
    </p:embeddedFont>
    <p:embeddedFont>
      <p:font typeface="Open Sans Bold" panose="020B0806030504020204" charset="0"/>
      <p:regular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64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2641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662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95805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4368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92453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1917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99264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15227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0492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23489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4485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33621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511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DD1FDF-56EF-4993-9495-9872C9A9AAB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70D5E0-E683-496A-AD5B-DB512DD93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039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61475" y="2250083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Опыт создания игры Тетрис на движке Godot 4.3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661475" y="4305498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От идеи до готового продукта: путь начинающего разработчика</a:t>
            </a:r>
            <a:endParaRPr lang="en-US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A57B3CF-C1ED-472E-9703-7FF4F16C656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211" r="-87"/>
          <a:stretch/>
        </p:blipFill>
        <p:spPr>
          <a:xfrm>
            <a:off x="8724900" y="0"/>
            <a:ext cx="3467100" cy="68577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Описание игры и техническая реализация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661476" y="1551650"/>
            <a:ext cx="5410759" cy="21544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Современная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адаптация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классического «Тетриса» на движке </a:t>
            </a:r>
            <a:r>
              <a:rPr lang="en-US" sz="1600" b="1" dirty="0">
                <a:solidFill>
                  <a:srgbClr val="403C4E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Godot 4.3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</a:t>
            </a:r>
            <a:endParaRPr lang="ru-RU" sz="1600" dirty="0">
              <a:solidFill>
                <a:srgbClr val="403C4E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ru-RU" sz="1600" dirty="0">
              <a:solidFill>
                <a:srgbClr val="403C4E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Цель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воссоздать оригинальный геймплей с внедрением </a:t>
            </a: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новых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решений</a:t>
            </a:r>
            <a:r>
              <a:rPr lang="ru-RU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освоить создание игр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462" y="3937000"/>
            <a:ext cx="7773538" cy="274938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61476" y="4173810"/>
            <a:ext cx="6321774" cy="798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Классические правила</a:t>
            </a: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661477" y="4804114"/>
            <a:ext cx="7196486" cy="798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Фигуры падают в стакан 10×20 клеток. Игрок вращает и </a:t>
            </a: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перемещает</a:t>
            </a:r>
            <a:endParaRPr lang="ru-RU" sz="1600" dirty="0">
              <a:solidFill>
                <a:srgbClr val="403C4E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их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заполняя горизонтальные ряды.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661476" y="5742446"/>
            <a:ext cx="7196487" cy="843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Заполненный ряд уничтожается, начисляются очки, </a:t>
            </a: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пространство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endParaRPr lang="ru-RU" sz="1600" dirty="0">
              <a:solidFill>
                <a:srgbClr val="403C4E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выше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сдвигается вниз.</a:t>
            </a:r>
            <a:endParaRPr lang="en-US" sz="16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8D7AFE9-337C-4144-8179-C99800B2F0D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614" t="1973" r="19512" b="24018"/>
          <a:stretch/>
        </p:blipFill>
        <p:spPr>
          <a:xfrm>
            <a:off x="8705815" y="1176814"/>
            <a:ext cx="2672033" cy="52362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7685E9-9F25-40A4-B928-81F2360186F6}"/>
              </a:ext>
            </a:extLst>
          </p:cNvPr>
          <p:cNvSpPr txBox="1"/>
          <p:nvPr/>
        </p:nvSpPr>
        <p:spPr>
          <a:xfrm>
            <a:off x="8705815" y="6455513"/>
            <a:ext cx="26720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100" dirty="0"/>
              <a:t>Пример игрового окна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4314"/>
            <a:ext cx="10868745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Новые функциональные возможности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661475" y="1430238"/>
            <a:ext cx="11478330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Проект не ограничивается копированием — интегрированы новые решения: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61475" y="1891705"/>
            <a:ext cx="5351329" cy="2265263"/>
          </a:xfrm>
          <a:prstGeom prst="roundRect">
            <a:avLst>
              <a:gd name="adj" fmla="val 3286"/>
            </a:avLst>
          </a:prstGeom>
          <a:solidFill>
            <a:srgbClr val="FFD8CC"/>
          </a:solidFill>
          <a:ln w="6350">
            <a:solidFill>
              <a:srgbClr val="E5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025" y="2075259"/>
            <a:ext cx="531601" cy="531614"/>
          </a:xfrm>
          <a:prstGeom prst="ellipse">
            <a:avLst/>
          </a:prstGeom>
          <a:solidFill>
            <a:srgbClr val="FFAD94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1171" y="2221409"/>
            <a:ext cx="239210" cy="2392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5025" y="2772966"/>
            <a:ext cx="498422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Динамическая сложность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45025" y="3149501"/>
            <a:ext cx="4984228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Скорость падения адаптируется под навыки. В меню можно выбрать уровень сложности — это помогает новичкам.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178892" y="1891705"/>
            <a:ext cx="5351329" cy="2265263"/>
          </a:xfrm>
          <a:prstGeom prst="roundRect">
            <a:avLst>
              <a:gd name="adj" fmla="val 3286"/>
            </a:avLst>
          </a:prstGeom>
          <a:solidFill>
            <a:srgbClr val="FFD8CC"/>
          </a:solidFill>
          <a:ln w="6350">
            <a:solidFill>
              <a:srgbClr val="E5BEB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62442" y="2075259"/>
            <a:ext cx="531601" cy="531614"/>
          </a:xfrm>
          <a:prstGeom prst="ellipse">
            <a:avLst/>
          </a:prstGeom>
          <a:solidFill>
            <a:srgbClr val="FFAD94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08587" y="2221409"/>
            <a:ext cx="239210" cy="2392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62442" y="2772966"/>
            <a:ext cx="498422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Игровая статистика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362442" y="3149501"/>
            <a:ext cx="498422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Фиксация максимального количества очков на разных уровнях сложности.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61475" y="4323060"/>
            <a:ext cx="5351329" cy="1990626"/>
          </a:xfrm>
          <a:prstGeom prst="roundRect">
            <a:avLst>
              <a:gd name="adj" fmla="val 3739"/>
            </a:avLst>
          </a:prstGeom>
          <a:solidFill>
            <a:srgbClr val="FFD8CC"/>
          </a:solidFill>
          <a:ln w="6350">
            <a:solidFill>
              <a:srgbClr val="E5BEB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5025" y="4506615"/>
            <a:ext cx="531601" cy="531614"/>
          </a:xfrm>
          <a:prstGeom prst="ellipse">
            <a:avLst/>
          </a:prstGeom>
          <a:solidFill>
            <a:srgbClr val="FFAD94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1171" y="4652764"/>
            <a:ext cx="239210" cy="23921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025" y="5204321"/>
            <a:ext cx="498422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Пользовательский интерфейс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5025" y="5580856"/>
            <a:ext cx="498422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Отслеживание прогресса, предпросмотр следующей фигуры, управление процессом.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178892" y="4323060"/>
            <a:ext cx="5351329" cy="1990626"/>
          </a:xfrm>
          <a:prstGeom prst="roundRect">
            <a:avLst>
              <a:gd name="adj" fmla="val 3739"/>
            </a:avLst>
          </a:prstGeom>
          <a:solidFill>
            <a:srgbClr val="FFD8CC"/>
          </a:solidFill>
          <a:ln w="6350">
            <a:solidFill>
              <a:srgbClr val="E5BEB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62442" y="4506615"/>
            <a:ext cx="531601" cy="531614"/>
          </a:xfrm>
          <a:prstGeom prst="ellipse">
            <a:avLst/>
          </a:prstGeom>
          <a:solidFill>
            <a:srgbClr val="FFAD94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08587" y="4652764"/>
            <a:ext cx="239210" cy="23921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62442" y="5204321"/>
            <a:ext cx="498422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Обучение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6362442" y="5481241"/>
            <a:ext cx="4984228" cy="6488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Текстовое обучение основам «Тетриса» </a:t>
            </a: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прямо</a:t>
            </a:r>
            <a:endParaRPr lang="ru-RU" sz="1600" dirty="0">
              <a:solidFill>
                <a:srgbClr val="403C4E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  <a:p>
            <a:pPr marL="0" indent="0" algn="l">
              <a:lnSpc>
                <a:spcPct val="129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 игре.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470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Истоки идеи и мотивация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661475" y="1381215"/>
            <a:ext cx="3565138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Почему Тетрис?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61475" y="1958966"/>
            <a:ext cx="3565138" cy="22291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Желание заглянуть «под капот» игрового механизма трансформировалось в осознанную цель. «Тетрис» — идеальный полигон для начинающего: нет сложной физики и оптимизации миров, что помогает освоить базовые вещи без сильных затруднений.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5529" y="5083478"/>
            <a:ext cx="3565138" cy="1382323"/>
          </a:xfrm>
          <a:prstGeom prst="roundRect">
            <a:avLst>
              <a:gd name="adj" fmla="val 6726"/>
            </a:avLst>
          </a:prstGeom>
          <a:solidFill>
            <a:srgbClr val="FFD8C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139" y="5274277"/>
            <a:ext cx="188213" cy="1506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4963" y="5229033"/>
            <a:ext cx="2925094" cy="649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Реализация на Godot 4.3 проверила, насколько мечта соответствует реальным задачам.</a:t>
            </a:r>
            <a:endParaRPr lang="en-US" sz="16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0D6E161-9167-477C-A981-CF2E3ADA6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0101" y="1229623"/>
            <a:ext cx="7232150" cy="454501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26935CF-D3B2-4B3A-BC21-A74B4B09DF87}"/>
              </a:ext>
            </a:extLst>
          </p:cNvPr>
          <p:cNvSpPr txBox="1"/>
          <p:nvPr/>
        </p:nvSpPr>
        <p:spPr>
          <a:xfrm>
            <a:off x="4710101" y="5962134"/>
            <a:ext cx="71389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100" dirty="0"/>
              <a:t>Пример рабочего окна </a:t>
            </a:r>
            <a:r>
              <a:rPr lang="en-US" sz="1100" dirty="0"/>
              <a:t>Godot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9110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Результаты и приобретённые навыки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713670" y="1543148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Игра стала базой прикладных знаний для любого разработчика: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3281" y="2303009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FFD8CC"/>
          </a:solidFill>
          <a:ln w="6350">
            <a:solidFill>
              <a:srgbClr val="E5BE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4171" y="2338430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97529" y="2367898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Нодовая система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97529" y="2776580"/>
            <a:ext cx="2851178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Иерархия объектов, сигналы между сценами, распределение логики в архитектуре Godot.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741099" y="2238120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FFD8CC"/>
          </a:solidFill>
          <a:ln w="6350">
            <a:solidFill>
              <a:srgbClr val="E5BE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1989" y="2273541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355347" y="2303009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Вёрстка UI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355347" y="2711691"/>
            <a:ext cx="2851178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Создание меню, таблиц рекордов и игровых панелей: контейнеры, якоря, отзывчивый интерфейс.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4171" y="480347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FFD8CC"/>
          </a:solidFill>
          <a:ln w="6350">
            <a:solidFill>
              <a:srgbClr val="E5BE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061" y="483889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68419" y="486836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Сохранения данных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68419" y="5277049"/>
            <a:ext cx="6838106" cy="10178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Реализация системы сохранений в формате JSON: сериализация объектов и корректное считывание при запуске.</a:t>
            </a:r>
            <a:endParaRPr lang="en-US" sz="1600" dirty="0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FCA8207-36ED-46DD-9E46-DB3C4E560B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352" y="1407758"/>
            <a:ext cx="2499477" cy="440337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411F87C-773E-4664-808F-B56D458A855F}"/>
              </a:ext>
            </a:extLst>
          </p:cNvPr>
          <p:cNvSpPr txBox="1"/>
          <p:nvPr/>
        </p:nvSpPr>
        <p:spPr>
          <a:xfrm>
            <a:off x="8938352" y="5811132"/>
            <a:ext cx="24994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100" dirty="0"/>
              <a:t>Пример </a:t>
            </a:r>
            <a:r>
              <a:rPr lang="ru-RU" sz="1100" dirty="0" err="1"/>
              <a:t>нодового</a:t>
            </a:r>
            <a:r>
              <a:rPr lang="ru-RU" sz="1100" dirty="0"/>
              <a:t> дерева и верстки </a:t>
            </a:r>
            <a:r>
              <a:rPr lang="en-US" sz="1100" dirty="0"/>
              <a:t>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Godot Game Engine Icon SVG Vector &amp; PNG Free Download | UXWing">
            <a:extLst>
              <a:ext uri="{FF2B5EF4-FFF2-40B4-BE49-F238E27FC236}">
                <a16:creationId xmlns:a16="http://schemas.microsoft.com/office/drawing/2014/main" id="{EF498A6A-5903-4B2F-AC58-8755D242A2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4297" y="353729"/>
            <a:ext cx="2671221" cy="2521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Иллюстратор – Бесплатные иконки: интерфейс">
            <a:extLst>
              <a:ext uri="{FF2B5EF4-FFF2-40B4-BE49-F238E27FC236}">
                <a16:creationId xmlns:a16="http://schemas.microsoft.com/office/drawing/2014/main" id="{BD127803-2727-4D5C-9DD1-B5977A2F63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757" y="1734707"/>
            <a:ext cx="2113540" cy="2113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84524649-784C-4FCD-8FBB-A570C6D835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480" y="3983013"/>
            <a:ext cx="2671221" cy="2671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 0"/>
          <p:cNvSpPr/>
          <p:nvPr/>
        </p:nvSpPr>
        <p:spPr>
          <a:xfrm>
            <a:off x="5233360" y="972641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Главный</a:t>
            </a:r>
            <a:r>
              <a:rPr lang="en-US" sz="37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 итог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58759" y="1806713"/>
            <a:ext cx="6013399" cy="795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Тетрис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стал</a:t>
            </a:r>
            <a:r>
              <a:rPr lang="ru-RU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первой полноценной игрой и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толчком к созданию </a:t>
            </a: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новых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600" dirty="0" err="1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игр</a:t>
            </a:r>
            <a:r>
              <a:rPr lang="ru-RU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258759" y="2703901"/>
            <a:ext cx="45719" cy="598488"/>
          </a:xfrm>
          <a:prstGeom prst="roundRect">
            <a:avLst>
              <a:gd name="adj" fmla="val 50001"/>
            </a:avLst>
          </a:prstGeom>
          <a:solidFill>
            <a:srgbClr val="FFAD94"/>
          </a:solidFill>
          <a:ln/>
        </p:spPr>
      </p:sp>
      <p:sp>
        <p:nvSpPr>
          <p:cNvPr id="6" name="Shape 3"/>
          <p:cNvSpPr/>
          <p:nvPr/>
        </p:nvSpPr>
        <p:spPr>
          <a:xfrm>
            <a:off x="5227010" y="3466001"/>
            <a:ext cx="6296860" cy="2795786"/>
          </a:xfrm>
          <a:prstGeom prst="roundRect">
            <a:avLst>
              <a:gd name="adj" fmla="val 2840"/>
            </a:avLst>
          </a:prstGeom>
          <a:solidFill>
            <a:srgbClr val="FFD8CC"/>
          </a:solidFill>
          <a:ln w="6350">
            <a:solidFill>
              <a:srgbClr val="E5BEB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233360" y="3472351"/>
            <a:ext cx="6284160" cy="1391543"/>
          </a:xfrm>
          <a:custGeom>
            <a:avLst/>
            <a:gdLst/>
            <a:ahLst/>
            <a:cxnLst/>
            <a:rect l="l" t="t" r="r" b="b"/>
            <a:pathLst>
              <a:path w="6284160" h="1391543">
                <a:moveTo>
                  <a:pt x="66156" y="0"/>
                </a:moveTo>
                <a:lnTo>
                  <a:pt x="6218004" y="0"/>
                </a:lnTo>
                <a:arcTo wR="66156" hR="66158" stAng="16200000" swAng="5400000"/>
                <a:lnTo>
                  <a:pt x="6284160" y="1391543"/>
                </a:lnTo>
                <a:lnTo>
                  <a:pt x="0" y="1391543"/>
                </a:lnTo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FFD8CC"/>
          </a:solidFill>
          <a:ln/>
        </p:spPr>
      </p:sp>
      <p:sp>
        <p:nvSpPr>
          <p:cNvPr id="8" name="Text 5"/>
          <p:cNvSpPr/>
          <p:nvPr/>
        </p:nvSpPr>
        <p:spPr>
          <a:xfrm>
            <a:off x="5422367" y="3661363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Что было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422367" y="4070045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Тетрис на Godot 4.3 — первый полноценный игровой проект и база знаний.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233360" y="4863894"/>
            <a:ext cx="6284160" cy="1391543"/>
          </a:xfrm>
          <a:custGeom>
            <a:avLst/>
            <a:gdLst/>
            <a:ahLst/>
            <a:cxnLst/>
            <a:rect l="l" t="t" r="r" b="b"/>
            <a:pathLst>
              <a:path w="6284160" h="1391543">
                <a:moveTo>
                  <a:pt x="0" y="0"/>
                </a:moveTo>
                <a:lnTo>
                  <a:pt x="6284160" y="0"/>
                </a:lnTo>
                <a:lnTo>
                  <a:pt x="6284160" y="1325385"/>
                </a:lnTo>
                <a:arcTo wR="66156" hR="66158" stAng="0" swAng="5400000"/>
                <a:lnTo>
                  <a:pt x="66156" y="1391543"/>
                </a:lnTo>
                <a:arcTo wR="66156" hR="66158" stAng="5400000" swAng="5400000"/>
                <a:lnTo>
                  <a:pt x="0" y="0"/>
                </a:lnTo>
                <a:close/>
              </a:path>
            </a:pathLst>
          </a:custGeom>
          <a:solidFill>
            <a:srgbClr val="FFD8CC"/>
          </a:solidFill>
          <a:ln/>
        </p:spPr>
      </p:sp>
      <p:sp>
        <p:nvSpPr>
          <p:cNvPr id="11" name="Shape 8"/>
          <p:cNvSpPr/>
          <p:nvPr/>
        </p:nvSpPr>
        <p:spPr>
          <a:xfrm>
            <a:off x="5233360" y="4863894"/>
            <a:ext cx="6284160" cy="25400"/>
          </a:xfrm>
          <a:prstGeom prst="roundRect">
            <a:avLst>
              <a:gd name="adj" fmla="val 49999"/>
            </a:avLst>
          </a:prstGeom>
          <a:solidFill>
            <a:srgbClr val="E5BEB2"/>
          </a:solidFill>
          <a:ln/>
        </p:spPr>
      </p:sp>
      <p:sp>
        <p:nvSpPr>
          <p:cNvPr id="12" name="Text 9"/>
          <p:cNvSpPr/>
          <p:nvPr/>
        </p:nvSpPr>
        <p:spPr>
          <a:xfrm>
            <a:off x="5422367" y="5052906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403C4E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Что стало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422367" y="5461588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Переход на движок </a:t>
            </a:r>
            <a:r>
              <a:rPr lang="en-US" sz="1600" b="1" dirty="0">
                <a:solidFill>
                  <a:srgbClr val="403C4E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Unity</a:t>
            </a:r>
            <a:r>
              <a:rPr lang="en-US" sz="1600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где опыт «Тетриса» помог быстрее освоиться и начать новые проекты.</a:t>
            </a:r>
            <a:endParaRPr 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5E6BC7-EE06-4FB6-81F4-8A3EEAB44EC6}"/>
              </a:ext>
            </a:extLst>
          </p:cNvPr>
          <p:cNvSpPr txBox="1"/>
          <p:nvPr/>
        </p:nvSpPr>
        <p:spPr>
          <a:xfrm>
            <a:off x="5376648" y="2791477"/>
            <a:ext cx="2864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Gamedev</a:t>
            </a:r>
            <a:r>
              <a:rPr lang="en-US" dirty="0"/>
              <a:t> </a:t>
            </a:r>
            <a:r>
              <a:rPr lang="en-US" dirty="0">
                <a:solidFill>
                  <a:srgbClr val="403C4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</a:t>
            </a:r>
            <a:r>
              <a:rPr lang="ru-RU" dirty="0"/>
              <a:t> это круто</a:t>
            </a:r>
            <a:endParaRPr lang="en-US" dirty="0"/>
          </a:p>
        </p:txBody>
      </p:sp>
      <p:pic>
        <p:nvPicPr>
          <p:cNvPr id="1028" name="Picture 4" descr="Unity Hub macOS BigSur Значок">
            <a:extLst>
              <a:ext uri="{FF2B5EF4-FFF2-40B4-BE49-F238E27FC236}">
                <a16:creationId xmlns:a16="http://schemas.microsoft.com/office/drawing/2014/main" id="{55D16312-0538-47C6-8A34-D9BF42FE1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0190" y="2874987"/>
            <a:ext cx="2940638" cy="2940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</TotalTime>
  <Words>337</Words>
  <Application>Microsoft Office PowerPoint</Application>
  <PresentationFormat>Широкоэкранный</PresentationFormat>
  <Paragraphs>53</Paragraphs>
  <Slides>6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3" baseType="lpstr">
      <vt:lpstr>Arial</vt:lpstr>
      <vt:lpstr>Calibri Light</vt:lpstr>
      <vt:lpstr>Open Sans</vt:lpstr>
      <vt:lpstr>Calibri</vt:lpstr>
      <vt:lpstr>Open Sans Bold</vt:lpstr>
      <vt:lpstr>Merriweather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Слава Сорокин</cp:lastModifiedBy>
  <cp:revision>8</cp:revision>
  <dcterms:created xsi:type="dcterms:W3CDTF">2026-09-22T10:13:03Z</dcterms:created>
  <dcterms:modified xsi:type="dcterms:W3CDTF">2026-09-22T11:04:15Z</dcterms:modified>
</cp:coreProperties>
</file>